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98" r:id="rId3"/>
    <p:sldId id="299" r:id="rId4"/>
    <p:sldId id="304" r:id="rId5"/>
    <p:sldId id="301" r:id="rId6"/>
    <p:sldId id="302" r:id="rId7"/>
    <p:sldId id="303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596F76-BCEC-4B49-9849-FB9F2A56511C}" v="471" dt="2025-09-03T19:59:34.355"/>
    <p1510:client id="{BBDEC153-F21F-CF07-5EFB-B85CCF2145AF}" v="216" dt="2025-09-03T19:05:09.691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FD354-C36D-FF01-06F6-7833C916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2922E28B-B8A7-A017-7D04-1B8B1EB1C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69F1331F-4702-4DD1-E560-6A5604BD72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49632E67-C76D-DB52-74AD-20A366FF4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56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09C22-93ED-448A-0111-2A63ABD41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9B1C7D9C-05DB-054F-B608-01DAD9485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8AAF5C42-4AD6-589C-B1D6-234A95D056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786360B7-4A29-B6B3-05B6-4EEEC839F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65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56F6F-76C6-2940-22B1-990B8AA5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AAC888E3-C224-F1A8-689C-3B13568D0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0FAFCC5C-6539-1304-F2BC-C9C932ACA3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797B4E7A-0917-2B02-69A8-D46B92070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40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31293-AA7A-C25C-D191-6348C360E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ED6FB9D4-8E32-8C8C-3F92-D0D1535D1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21DB30D-7A82-35DA-7D9F-63464BA1AD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3A92EE29-F1D9-E4B4-98E0-C23F8C54E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63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986B9-6729-3EBF-54BB-3B76FE4B3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754ED570-EBAC-DCD8-526D-1A6AF0E36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C8873DD8-4686-DDB0-63D1-04851E4DAB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B594E476-72AA-AC88-55A1-C63567297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341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FD761-7647-E4B1-E0D0-77DD07DC6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BC08B6BE-C155-EE59-1463-1E75998D9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A9767C75-A481-AF93-67F4-C19B9AB65E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EA545102-58B5-57A0-6DAB-B399259B0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218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3084" y="2141956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259258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9776" y="1253134"/>
            <a:ext cx="6344818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25093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Centralized Digital Platform for Comprehensive student activity record in HEIs.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– Team Dexter 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0B5E6-6675-EAF8-E216-0E0B38C72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7DDBBC3-9D1D-FBD3-490D-3B4F96935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EDF996EE-D039-067C-A6DD-ED2E15592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679" y="42700"/>
            <a:ext cx="3978250" cy="503238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8D0E2-ED25-40AA-E74B-307DAE571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3357EA15-91D6-B983-D3DE-2F2B580EC2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19877" y="14338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Team Dexter</a:t>
            </a:r>
            <a:endParaRPr lang="en-IN"/>
          </a:p>
        </p:txBody>
      </p:sp>
      <p:pic>
        <p:nvPicPr>
          <p:cNvPr id="12" name="Picture 2" descr="https://www.sih.gov.in/img1/SIH-Logo.png">
            <a:extLst>
              <a:ext uri="{FF2B5EF4-FFF2-40B4-BE49-F238E27FC236}">
                <a16:creationId xmlns:a16="http://schemas.microsoft.com/office/drawing/2014/main" id="{E890DA85-0235-8EDF-1DA1-967E22BB7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2869BB-38D0-A8BF-A521-7948B724C037}"/>
              </a:ext>
            </a:extLst>
          </p:cNvPr>
          <p:cNvSpPr txBox="1"/>
          <p:nvPr/>
        </p:nvSpPr>
        <p:spPr>
          <a:xfrm>
            <a:off x="5077245" y="1063053"/>
            <a:ext cx="6692656" cy="5078313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b="1" u="sng">
                <a:solidFill>
                  <a:schemeClr val="tx2"/>
                </a:solidFill>
                <a:latin typeface="Calibri"/>
                <a:ea typeface="ＭＳ Ｐゴシック"/>
                <a:cs typeface="Calibri"/>
              </a:rPr>
              <a:t>Detailed Explanation </a:t>
            </a:r>
          </a:p>
          <a:p>
            <a:r>
              <a:rPr lang="en-IN"/>
              <a:t>The platform consists of </a:t>
            </a:r>
            <a:r>
              <a:rPr lang="en-IN" b="1"/>
              <a:t>two core components</a:t>
            </a:r>
            <a:r>
              <a:rPr lang="en-IN"/>
              <a:t>:</a:t>
            </a:r>
          </a:p>
          <a:p>
            <a:r>
              <a:rPr lang="en-IN" b="1"/>
              <a:t>Student Interface (Web &amp; Mobile App):</a:t>
            </a:r>
            <a:endParaRPr lang="en-I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A personal dashboard showing academic performance, extra-curricular involvement, volunteering, internships,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Upload portal for certificates, event participation, leadership roles,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Track submission status and receive approval feedback.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Auto-generate verified digital portfolio (PDF &amp; sharable web link).</a:t>
            </a:r>
          </a:p>
          <a:p>
            <a:r>
              <a:rPr lang="en-IN" b="1"/>
              <a:t>Faculty/Admin Interface:</a:t>
            </a:r>
            <a:endParaRPr lang="en-I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Validate and approve student submissions with evidence (certificates, proof).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Real-time analytics dashboard for institution-level insights.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Exportable reports for NAAC, AICTE, NIRF, and accreditation requirements.</a:t>
            </a:r>
          </a:p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D890BB-4CEA-BECB-D5DA-F150CA3E96D0}"/>
              </a:ext>
            </a:extLst>
          </p:cNvPr>
          <p:cNvSpPr txBox="1"/>
          <p:nvPr/>
        </p:nvSpPr>
        <p:spPr>
          <a:xfrm>
            <a:off x="420440" y="1060476"/>
            <a:ext cx="4315344" cy="508385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,Sans-Serif"/>
              <a:buChar char="v"/>
            </a:pPr>
            <a:r>
              <a:rPr lang="en-US" sz="3200" b="1" u="sng">
                <a:solidFill>
                  <a:schemeClr val="tx2"/>
                </a:solidFill>
                <a:latin typeface="Times New Roman"/>
                <a:ea typeface="ＭＳ Ｐゴシック"/>
                <a:cs typeface="Arial"/>
              </a:rPr>
              <a:t>Proposed Solution</a:t>
            </a:r>
            <a:endParaRPr lang="en-US" sz="3200">
              <a:solidFill>
                <a:schemeClr val="tx2"/>
              </a:solidFill>
              <a:latin typeface="Times New Roman"/>
              <a:ea typeface="ＭＳ Ｐゴシック"/>
              <a:cs typeface="Arial"/>
            </a:endParaRPr>
          </a:p>
          <a:p>
            <a:pPr marL="342900" indent="-342900">
              <a:buFont typeface="Wingdings,Sans-Serif"/>
              <a:buChar char="v"/>
            </a:pPr>
            <a:endParaRPr lang="en-US" sz="3200" b="1" u="sng">
              <a:solidFill>
                <a:schemeClr val="tx2"/>
              </a:solidFill>
              <a:latin typeface="Times New Roman"/>
              <a:ea typeface="ＭＳ Ｐゴシック"/>
              <a:cs typeface="Arial"/>
            </a:endParaRPr>
          </a:p>
          <a:p>
            <a:r>
              <a:rPr lang="en-US" b="1">
                <a:latin typeface="Times New Roman"/>
                <a:ea typeface="ＭＳ Ｐゴシック"/>
                <a:cs typeface="Calibri"/>
              </a:rPr>
              <a:t>✅ Idea/Solution/Prototype: Smart Student Hub (Web + Mobile App)</a:t>
            </a:r>
          </a:p>
          <a:p>
            <a:endParaRPr lang="en-US" b="1">
              <a:latin typeface="Times New Roman"/>
              <a:cs typeface="Times"/>
            </a:endParaRPr>
          </a:p>
          <a:p>
            <a:r>
              <a:rPr lang="en-US">
                <a:latin typeface="Times New Roman"/>
                <a:ea typeface="ＭＳ Ｐゴシック"/>
                <a:cs typeface="Calibri"/>
              </a:rPr>
              <a:t>The </a:t>
            </a:r>
            <a:r>
              <a:rPr lang="en-US" b="1">
                <a:latin typeface="Times New Roman"/>
                <a:ea typeface="ＭＳ Ｐゴシック"/>
                <a:cs typeface="Calibri"/>
              </a:rPr>
              <a:t>Smart Student Hub</a:t>
            </a:r>
            <a:r>
              <a:rPr lang="en-US">
                <a:latin typeface="Times New Roman"/>
                <a:ea typeface="ＭＳ Ｐゴシック"/>
                <a:cs typeface="Calibri"/>
              </a:rPr>
              <a:t> is a centralized digital platform designed for Higher Education Institutions (HEIs) to comprehensively record, track, verify, and showcase student activities across academic and non-academic dimensions. It bridges the information gap between departments and digitizes student engagement, achievements, and institutional reporting.</a:t>
            </a:r>
          </a:p>
          <a:p>
            <a:endParaRPr lang="en-IN">
              <a:latin typeface="Times New Roman"/>
              <a:cs typeface="Calibri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457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FED02-C2F9-8C12-8A37-0ADC8620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686484-A4C1-FE8B-B63D-B4BC6A793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0FDACA6F-7F70-F8FB-9034-9A7BA7D71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679" y="42700"/>
            <a:ext cx="3978250" cy="503238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C2A79-F7E8-5F83-03EC-1B57C68CD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71DAB18-3A74-A0CC-5300-F2FB64E622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Team Dexter</a:t>
            </a:r>
            <a:endParaRPr lang="en-IN"/>
          </a:p>
        </p:txBody>
      </p:sp>
      <p:pic>
        <p:nvPicPr>
          <p:cNvPr id="12" name="Picture 2" descr="https://www.sih.gov.in/img1/SIH-Logo.png">
            <a:extLst>
              <a:ext uri="{FF2B5EF4-FFF2-40B4-BE49-F238E27FC236}">
                <a16:creationId xmlns:a16="http://schemas.microsoft.com/office/drawing/2014/main" id="{FEB2F3B6-7857-1591-4EAC-593003336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19ED28-598A-D2CF-B84C-F08B346C90FE}"/>
              </a:ext>
            </a:extLst>
          </p:cNvPr>
          <p:cNvSpPr txBox="1"/>
          <p:nvPr/>
        </p:nvSpPr>
        <p:spPr>
          <a:xfrm>
            <a:off x="396525" y="1179965"/>
            <a:ext cx="5695338" cy="467820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b="1">
                <a:solidFill>
                  <a:schemeClr val="tx2"/>
                </a:solidFill>
                <a:latin typeface="Times New Roman"/>
                <a:ea typeface="ＭＳ Ｐゴシック"/>
                <a:cs typeface="Times New Roman"/>
              </a:rPr>
              <a:t>How It Addresses the 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Consolidation:</a:t>
            </a:r>
            <a:r>
              <a:rPr lang="en-US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US">
                <a:latin typeface="Times New Roman"/>
                <a:ea typeface="Calibri"/>
                <a:cs typeface="Calibri"/>
              </a:rPr>
              <a:t>Right now, student records are spread across departments and papers. We bring them all together in one place.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Calibri"/>
                <a:cs typeface="Calibri"/>
              </a:rPr>
              <a:t>Visibility</a:t>
            </a:r>
            <a:r>
              <a:rPr lang="en-US">
                <a:latin typeface="Times New Roman"/>
                <a:ea typeface="Calibri"/>
                <a:cs typeface="Calibri"/>
              </a:rPr>
              <a:t> – Students get a live dashboard to track their academic and extra activities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Verification:</a:t>
            </a:r>
            <a:r>
              <a:rPr lang="en-US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US">
                <a:latin typeface="Times New Roman"/>
                <a:ea typeface="Calibri"/>
                <a:cs typeface="Calibri"/>
              </a:rPr>
              <a:t>Faculty check and approve every record, so the data is trusted and authentic.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Reporting:</a:t>
            </a:r>
            <a:r>
              <a:rPr lang="en-US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US">
                <a:latin typeface="Times New Roman"/>
                <a:ea typeface="Calibri"/>
                <a:cs typeface="Calibri"/>
              </a:rPr>
              <a:t>Institutions can generate NAAC/NIRF reports instantly instead of spending weeks.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Preparation:</a:t>
            </a:r>
            <a:r>
              <a:rPr lang="en-US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US">
                <a:latin typeface="Times New Roman"/>
                <a:ea typeface="Calibri"/>
                <a:cs typeface="Calibri"/>
              </a:rPr>
              <a:t>By graduation, every student has a verified digital portfolio, ready for jobs or higher studies.”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54042A-A8DE-3849-8F4D-3BFF4AA2D11B}"/>
              </a:ext>
            </a:extLst>
          </p:cNvPr>
          <p:cNvSpPr txBox="1"/>
          <p:nvPr/>
        </p:nvSpPr>
        <p:spPr>
          <a:xfrm>
            <a:off x="6446002" y="1179965"/>
            <a:ext cx="5359900" cy="4678204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>
                <a:solidFill>
                  <a:schemeClr val="tx2"/>
                </a:solidFill>
                <a:latin typeface="Times New Roman"/>
                <a:ea typeface="ＭＳ Ｐゴシック"/>
                <a:cs typeface="Times New Roman"/>
              </a:rPr>
              <a:t>Innovation and Uniqueness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Auto-Generated Portfolio:</a:t>
            </a:r>
            <a:r>
              <a:rPr lang="en-US">
                <a:latin typeface="Times New Roman"/>
                <a:ea typeface="ＭＳ Ｐゴシック"/>
                <a:cs typeface="Times New Roman"/>
              </a:rPr>
              <a:t> A verified, professional-looking profile for each student.</a:t>
            </a:r>
            <a:endParaRPr lang="en-US">
              <a:ea typeface="ＭＳ Ｐゴシック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Gamified Experience:</a:t>
            </a:r>
            <a:r>
              <a:rPr lang="en-US">
                <a:latin typeface="Times New Roman"/>
                <a:ea typeface="ＭＳ Ｐゴシック"/>
                <a:cs typeface="Times New Roman"/>
              </a:rPr>
              <a:t> Students earn points/badges for each verified activity, promoting participation.</a:t>
            </a:r>
            <a:endParaRPr lang="en-US">
              <a:ea typeface="ＭＳ Ｐゴシック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Institutional Insights:</a:t>
            </a:r>
            <a:r>
              <a:rPr lang="en-US">
                <a:latin typeface="Times New Roman"/>
                <a:ea typeface="ＭＳ Ｐゴシック"/>
                <a:cs typeface="Times New Roman"/>
              </a:rPr>
              <a:t> Heatmaps, trends, and department-wise participation analytics.</a:t>
            </a:r>
            <a:endParaRPr lang="en-US">
              <a:ea typeface="ＭＳ Ｐゴシック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Open APIs:</a:t>
            </a:r>
            <a:r>
              <a:rPr lang="en-US">
                <a:latin typeface="Times New Roman"/>
                <a:ea typeface="ＭＳ Ｐゴシック"/>
                <a:cs typeface="Times New Roman"/>
              </a:rPr>
              <a:t> Allows integration with LMS, ERP, or national education platforms.</a:t>
            </a:r>
            <a:endParaRPr lang="en-US">
              <a:ea typeface="ＭＳ Ｐゴシック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AI-Driven Recommendations:</a:t>
            </a:r>
            <a:r>
              <a:rPr lang="en-US">
                <a:latin typeface="Times New Roman"/>
                <a:ea typeface="ＭＳ Ｐゴシック"/>
                <a:cs typeface="Times New Roman"/>
              </a:rPr>
              <a:t> Suggest workshops, MOOCs, or contests based on student activity trends (future phase).</a:t>
            </a:r>
            <a:endParaRPr lang="en-US"/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36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362F-6D65-A4C5-8B5C-AA983B79B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158312-53EE-D001-AC57-ED6BFBD63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816E0A99-480E-9F61-F689-7207B0E5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AE57-0EDB-DD9E-3A11-F9A8EF6ED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9F8618BE-17F2-C64B-4C8A-044B0E26B1A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Team Dexter</a:t>
            </a:r>
            <a:endParaRPr lang="en-IN">
              <a:ea typeface="Calibri"/>
              <a:cs typeface="Calibri"/>
            </a:endParaRP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A5F8B324-3DA4-48B3-A372-64376EBE9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94FA87-0F02-E1B0-AFE3-56C1071EE2EA}"/>
              </a:ext>
            </a:extLst>
          </p:cNvPr>
          <p:cNvSpPr txBox="1"/>
          <p:nvPr/>
        </p:nvSpPr>
        <p:spPr>
          <a:xfrm>
            <a:off x="221014" y="1147135"/>
            <a:ext cx="5433364" cy="2739211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457200" lvl="0" indent="-457200" defTabSz="914400" eaLnBrk="0" hangingPunct="0">
              <a:buFont typeface="Wingdings" panose="05000000000000000000" pitchFamily="2" charset="2"/>
              <a:buChar char="v"/>
            </a:pPr>
            <a:r>
              <a:rPr lang="en-US" altLang="en-US" sz="2800" b="1" u="sng">
                <a:solidFill>
                  <a:schemeClr val="tx2"/>
                </a:solidFill>
                <a:latin typeface="Times New Roman"/>
                <a:ea typeface="ＭＳ Ｐゴシック"/>
                <a:cs typeface="Times New Roman"/>
              </a:rPr>
              <a:t>Tech Stack</a:t>
            </a:r>
          </a:p>
          <a:p>
            <a:pPr defTabSz="914400" eaLnBrk="0" hangingPunct="0">
              <a:buFontTx/>
              <a:buChar char="•"/>
            </a:pPr>
            <a:r>
              <a:rPr lang="en-US" altLang="en-US" b="1">
                <a:latin typeface="Times New Roman"/>
                <a:ea typeface="ＭＳ Ｐゴシック"/>
                <a:cs typeface="Times New Roman"/>
              </a:rPr>
              <a:t> Frontend:</a:t>
            </a:r>
            <a:r>
              <a:rPr lang="en-US" altLang="en-US">
                <a:latin typeface="Times New Roman"/>
                <a:ea typeface="ＭＳ Ｐゴシック"/>
                <a:cs typeface="Times New Roman"/>
              </a:rPr>
              <a:t> React.js (Web), Flutter/React Native (Mobile)</a:t>
            </a:r>
          </a:p>
          <a:p>
            <a:pPr defTabSz="914400" eaLnBrk="0" hangingPunct="0">
              <a:buFontTx/>
              <a:buChar char="•"/>
            </a:pPr>
            <a:r>
              <a:rPr lang="en-US" altLang="en-US" b="1">
                <a:latin typeface="Times New Roman"/>
                <a:ea typeface="ＭＳ Ｐゴシック"/>
                <a:cs typeface="Times New Roman"/>
              </a:rPr>
              <a:t> Backend:</a:t>
            </a:r>
            <a:r>
              <a:rPr lang="en-US" altLang="en-US">
                <a:latin typeface="Times New Roman"/>
                <a:ea typeface="ＭＳ Ｐゴシック"/>
                <a:cs typeface="Times New Roman"/>
              </a:rPr>
              <a:t> Node.js + Express (REST API) / </a:t>
            </a:r>
            <a:r>
              <a:rPr lang="en-US" altLang="en-US" err="1">
                <a:latin typeface="Times New Roman"/>
                <a:ea typeface="ＭＳ Ｐゴシック"/>
                <a:cs typeface="Times New Roman"/>
              </a:rPr>
              <a:t>SpringBoot</a:t>
            </a:r>
            <a:endParaRPr lang="en-US" altLang="en-US">
              <a:latin typeface="Times New Roman"/>
              <a:ea typeface="ＭＳ Ｐゴシック"/>
              <a:cs typeface="Times New Roman"/>
            </a:endParaRPr>
          </a:p>
          <a:p>
            <a:pPr defTabSz="914400" eaLnBrk="0" hangingPunct="0">
              <a:buFontTx/>
              <a:buChar char="•"/>
            </a:pPr>
            <a:r>
              <a:rPr lang="en-US" altLang="en-US" b="1">
                <a:latin typeface="Times New Roman"/>
                <a:ea typeface="ＭＳ Ｐゴシック"/>
                <a:cs typeface="Times New Roman"/>
              </a:rPr>
              <a:t> Database:</a:t>
            </a:r>
            <a:r>
              <a:rPr lang="en-US" altLang="en-US">
                <a:latin typeface="Times New Roman"/>
                <a:ea typeface="ＭＳ Ｐゴシック"/>
                <a:cs typeface="Times New Roman"/>
              </a:rPr>
              <a:t> MongoDB (NoSQL for flexibility)</a:t>
            </a:r>
          </a:p>
          <a:p>
            <a:pPr defTabSz="914400" eaLnBrk="0" hangingPunct="0">
              <a:buFontTx/>
              <a:buChar char="•"/>
            </a:pPr>
            <a:r>
              <a:rPr lang="en-US" altLang="en-US" b="1">
                <a:latin typeface="Times New Roman"/>
                <a:ea typeface="ＭＳ Ｐゴシック"/>
                <a:cs typeface="Times New Roman"/>
              </a:rPr>
              <a:t> Auth &amp; Storage:</a:t>
            </a:r>
            <a:r>
              <a:rPr lang="en-US" altLang="en-US">
                <a:latin typeface="Times New Roman"/>
                <a:ea typeface="ＭＳ Ｐゴシック"/>
                <a:cs typeface="Times New Roman"/>
              </a:rPr>
              <a:t> Firebase Auth + Firebase Storage (Certificates)</a:t>
            </a:r>
          </a:p>
          <a:p>
            <a:pPr defTabSz="914400" eaLnBrk="0" hangingPunct="0">
              <a:buFontTx/>
              <a:buChar char="•"/>
            </a:pPr>
            <a:r>
              <a:rPr lang="en-US" altLang="en-US" b="1">
                <a:latin typeface="Times New Roman"/>
                <a:ea typeface="ＭＳ Ｐゴシック"/>
                <a:cs typeface="Times New Roman"/>
              </a:rPr>
              <a:t> Deployment:</a:t>
            </a:r>
            <a:r>
              <a:rPr lang="en-US" altLang="en-US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US" altLang="en-US" err="1">
                <a:latin typeface="Times New Roman"/>
                <a:ea typeface="ＭＳ Ｐゴシック"/>
                <a:cs typeface="Times New Roman"/>
              </a:rPr>
              <a:t>Vercel</a:t>
            </a:r>
            <a:r>
              <a:rPr lang="en-US" altLang="en-US">
                <a:latin typeface="Times New Roman"/>
                <a:ea typeface="ＭＳ Ｐゴシック"/>
                <a:cs typeface="Times New Roman"/>
              </a:rPr>
              <a:t> (Web), Expo (Mobile), MongoDB Atlas (DB), AWS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F4E07-228B-1FE3-397A-ACE46FBFF462}"/>
              </a:ext>
            </a:extLst>
          </p:cNvPr>
          <p:cNvSpPr txBox="1"/>
          <p:nvPr/>
        </p:nvSpPr>
        <p:spPr>
          <a:xfrm>
            <a:off x="5862196" y="1147136"/>
            <a:ext cx="5933959" cy="2798587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u="sng">
                <a:solidFill>
                  <a:schemeClr val="tx2"/>
                </a:solidFill>
                <a:latin typeface="Times New Roman"/>
                <a:ea typeface="ＭＳ Ｐゴシック"/>
                <a:cs typeface="Times New Roman"/>
              </a:rPr>
              <a:t>System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>
                <a:latin typeface="Times New Roman"/>
                <a:ea typeface="ＭＳ Ｐゴシック"/>
                <a:cs typeface="Times New Roman"/>
              </a:rPr>
              <a:t>Web/Mobile App</a:t>
            </a:r>
            <a:r>
              <a:rPr lang="en-IN">
                <a:latin typeface="Times New Roman"/>
                <a:ea typeface="ＭＳ Ｐゴシック"/>
                <a:cs typeface="Times New Roman"/>
              </a:rPr>
              <a:t> → REST API → Backend Server → Database/Storage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>
                <a:latin typeface="Times New Roman"/>
                <a:ea typeface="ＭＳ Ｐゴシック"/>
                <a:cs typeface="Times New Roman"/>
              </a:rPr>
              <a:t>Role-based access</a:t>
            </a:r>
            <a:r>
              <a:rPr lang="en-IN">
                <a:latin typeface="Times New Roman"/>
                <a:ea typeface="ＭＳ Ｐゴシック"/>
                <a:cs typeface="Times New Roman"/>
              </a:rPr>
              <a:t> (Student, Faculty/Admin)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>
                <a:latin typeface="Times New Roman"/>
                <a:ea typeface="ＭＳ Ｐゴシック"/>
                <a:cs typeface="Times New Roman"/>
              </a:rPr>
              <a:t>Auto-Portfolio Engine</a:t>
            </a:r>
            <a:r>
              <a:rPr lang="en-IN">
                <a:latin typeface="Times New Roman"/>
                <a:ea typeface="ＭＳ Ｐゴシック"/>
                <a:cs typeface="Times New Roman"/>
              </a:rPr>
              <a:t> compiles verified data into PDF/Web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>
                <a:latin typeface="Times New Roman"/>
                <a:ea typeface="ＭＳ Ｐゴシック"/>
                <a:cs typeface="Times New Roman"/>
              </a:rPr>
              <a:t>Admin Dashboard</a:t>
            </a:r>
            <a:r>
              <a:rPr lang="en-IN">
                <a:latin typeface="Times New Roman"/>
                <a:ea typeface="ＭＳ Ｐゴシック"/>
                <a:cs typeface="Times New Roman"/>
              </a:rPr>
              <a:t> for real-time analytics &amp; accreditation reports.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190407-AD53-250E-802A-AE389999D3CE}"/>
              </a:ext>
            </a:extLst>
          </p:cNvPr>
          <p:cNvSpPr txBox="1"/>
          <p:nvPr/>
        </p:nvSpPr>
        <p:spPr>
          <a:xfrm>
            <a:off x="5861052" y="4227802"/>
            <a:ext cx="5933376" cy="1846659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Workflow (Agile Sprints)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Sprint 1: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Login, Dashboard UI (Web &amp; Mobile)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Sprint 2: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Activity Upload &amp; Approval Workflow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Sprint 3: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Portfolio Generation + Report Export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Sprint 4: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Analytics Dashboard + Institutional Insights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CAF9F08-7ADC-C8ED-72DE-0F1C66B99B0C}"/>
              </a:ext>
            </a:extLst>
          </p:cNvPr>
          <p:cNvGrpSpPr/>
          <p:nvPr/>
        </p:nvGrpSpPr>
        <p:grpSpPr>
          <a:xfrm>
            <a:off x="314724" y="3952067"/>
            <a:ext cx="5003310" cy="2406015"/>
            <a:chOff x="324620" y="3872901"/>
            <a:chExt cx="3606402" cy="2109133"/>
          </a:xfrm>
        </p:grpSpPr>
        <p:pic>
          <p:nvPicPr>
            <p:cNvPr id="3" name="Picture 2" descr="A blue and green atom symbol&#10;&#10;AI-generated content may be incorrect.">
              <a:extLst>
                <a:ext uri="{FF2B5EF4-FFF2-40B4-BE49-F238E27FC236}">
                  <a16:creationId xmlns:a16="http://schemas.microsoft.com/office/drawing/2014/main" id="{CFD294B0-7834-6952-5101-EF007065C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620" y="4019773"/>
              <a:ext cx="724483" cy="638219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664D176-FB5A-94B0-CB9A-FDC6CBFEF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1775" y="4649904"/>
              <a:ext cx="643998" cy="687521"/>
            </a:xfrm>
            <a:prstGeom prst="rect">
              <a:avLst/>
            </a:prstGeom>
          </p:spPr>
        </p:pic>
        <p:pic>
          <p:nvPicPr>
            <p:cNvPr id="8" name="Picture 7" descr="A blue logo with black background&#10;&#10;AI-generated content may be incorrect.">
              <a:extLst>
                <a:ext uri="{FF2B5EF4-FFF2-40B4-BE49-F238E27FC236}">
                  <a16:creationId xmlns:a16="http://schemas.microsoft.com/office/drawing/2014/main" id="{56B71CEE-051E-51FC-C924-A5D621B31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5259" y="3944788"/>
              <a:ext cx="722463" cy="765595"/>
            </a:xfrm>
            <a:prstGeom prst="rect">
              <a:avLst/>
            </a:prstGeom>
          </p:spPr>
        </p:pic>
        <p:pic>
          <p:nvPicPr>
            <p:cNvPr id="12" name="Picture 11" descr="A logo with a green cube&#10;&#10;AI-generated content may be incorrect.">
              <a:extLst>
                <a:ext uri="{FF2B5EF4-FFF2-40B4-BE49-F238E27FC236}">
                  <a16:creationId xmlns:a16="http://schemas.microsoft.com/office/drawing/2014/main" id="{E15F1A03-F417-1FE4-5D0E-C49791509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04396" y="3872901"/>
              <a:ext cx="952500" cy="9525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5D961B9-16DE-00F4-DD4B-3C42A59A9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9690" y="4704174"/>
              <a:ext cx="594561" cy="635825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283A4E4F-627E-9E56-7FDA-9B8EA2471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95839" y="5438496"/>
              <a:ext cx="1930114" cy="49979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548F2F0-D8C6-3EC7-5814-31807DEF4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22594" y="4697218"/>
              <a:ext cx="715696" cy="756960"/>
            </a:xfrm>
            <a:prstGeom prst="rect">
              <a:avLst/>
            </a:prstGeom>
          </p:spPr>
        </p:pic>
        <p:pic>
          <p:nvPicPr>
            <p:cNvPr id="17" name="Picture 16" descr="Expo Logo PNG Vector (SVG) Free Download">
              <a:extLst>
                <a:ext uri="{FF2B5EF4-FFF2-40B4-BE49-F238E27FC236}">
                  <a16:creationId xmlns:a16="http://schemas.microsoft.com/office/drawing/2014/main" id="{2FBF28D6-DF1F-674F-8945-7EB9DFA61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-2723" t="32631" r="523" b="31783"/>
            <a:stretch>
              <a:fillRect/>
            </a:stretch>
          </p:blipFill>
          <p:spPr>
            <a:xfrm>
              <a:off x="424002" y="5472302"/>
              <a:ext cx="1367940" cy="509732"/>
            </a:xfrm>
            <a:prstGeom prst="rect">
              <a:avLst/>
            </a:prstGeom>
          </p:spPr>
        </p:pic>
        <p:pic>
          <p:nvPicPr>
            <p:cNvPr id="19" name="Picture 18" descr="A green circle with a white leaf&#10;&#10;AI-generated content may be incorrect.">
              <a:extLst>
                <a:ext uri="{FF2B5EF4-FFF2-40B4-BE49-F238E27FC236}">
                  <a16:creationId xmlns:a16="http://schemas.microsoft.com/office/drawing/2014/main" id="{FC9032BB-3619-3494-6558-5E2027463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068743" y="3939738"/>
              <a:ext cx="862279" cy="780604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DA0C9FE-6C4A-E11A-170D-6FCE1DA7F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038735" y="4708655"/>
              <a:ext cx="833747" cy="8832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25737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2CBD3-0B88-4575-9E2C-A998FC578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5CDDF3-8C50-2B10-B29D-0BF31AE4C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CCE1089D-83A9-EB10-8E0E-61B8704A2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2526C-D132-EF94-11B8-018C3CE5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5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E947A6AB-9DBC-8107-B1D5-6AE7FFE8C6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Team Dexter</a:t>
            </a: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6C1D628D-2954-CE47-0BE6-4E8002C81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6DE1D5-EAB8-657F-DC28-6E8F873F9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931418"/>
            <a:ext cx="12192000" cy="641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A0E34-BAFC-B9B8-ED07-C6060519D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C6BBF49-86CF-1B09-03F4-4242495CF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B301073F-0E2A-8036-A561-89610773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A4E30-38DD-A9A2-2350-E17FDE570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48F59840-5928-922C-AE32-20EF68AE98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Team Dexter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3974758A-61D0-C6AB-FC9D-7097FD98A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CB2144-5E5D-1DE5-1DA9-21E3E2CFF401}"/>
              </a:ext>
            </a:extLst>
          </p:cNvPr>
          <p:cNvSpPr txBox="1"/>
          <p:nvPr/>
        </p:nvSpPr>
        <p:spPr>
          <a:xfrm>
            <a:off x="402612" y="1357297"/>
            <a:ext cx="4060722" cy="3847207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>
                <a:solidFill>
                  <a:schemeClr val="tx2"/>
                </a:solidFill>
                <a:latin typeface="Times New Roman"/>
                <a:ea typeface="ＭＳ Ｐゴシック"/>
                <a:cs typeface="Times New Roman"/>
              </a:rPr>
              <a:t>Feasibility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Technical Feasibility:</a:t>
            </a:r>
            <a:r>
              <a:rPr lang="en-US">
                <a:latin typeface="Times New Roman"/>
                <a:ea typeface="ＭＳ Ｐゴシック"/>
                <a:cs typeface="Times New Roman"/>
              </a:rPr>
              <a:t> Tech stack is proven, scalable, and developer-friendly.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Operational Feasibility:</a:t>
            </a:r>
            <a:r>
              <a:rPr lang="en-US">
                <a:latin typeface="Times New Roman"/>
                <a:ea typeface="ＭＳ Ｐゴシック"/>
                <a:cs typeface="Times New Roman"/>
              </a:rPr>
              <a:t> Can be integrated with existing LMS/ERP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ＭＳ Ｐゴシック"/>
                <a:cs typeface="Times New Roman"/>
              </a:rPr>
              <a:t>User Feasibility:</a:t>
            </a:r>
            <a:r>
              <a:rPr lang="en-US">
                <a:latin typeface="Times New Roman"/>
                <a:ea typeface="ＭＳ Ｐゴシック"/>
                <a:cs typeface="Times New Roman"/>
              </a:rPr>
              <a:t> Students and faculty already engage in similar workflows offline — easy transition.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B2BE29-A2A9-0860-B53E-3A92507FB2EA}"/>
              </a:ext>
            </a:extLst>
          </p:cNvPr>
          <p:cNvSpPr txBox="1"/>
          <p:nvPr/>
        </p:nvSpPr>
        <p:spPr>
          <a:xfrm>
            <a:off x="4648200" y="1301152"/>
            <a:ext cx="69342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u="sng">
                <a:solidFill>
                  <a:schemeClr val="tx2"/>
                </a:solidFill>
                <a:latin typeface="Times New Roman"/>
                <a:ea typeface="ＭＳ Ｐゴシック"/>
                <a:cs typeface="Times New Roman"/>
              </a:rPr>
              <a:t>Potential Challenges and Risks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5BDD347-B483-A0C2-5417-5242A5519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683933"/>
              </p:ext>
            </p:extLst>
          </p:nvPr>
        </p:nvGraphicFramePr>
        <p:xfrm>
          <a:off x="4909895" y="2249013"/>
          <a:ext cx="6934204" cy="295211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467102">
                  <a:extLst>
                    <a:ext uri="{9D8B030D-6E8A-4147-A177-3AD203B41FA5}">
                      <a16:colId xmlns:a16="http://schemas.microsoft.com/office/drawing/2014/main" val="2784090476"/>
                    </a:ext>
                  </a:extLst>
                </a:gridCol>
                <a:gridCol w="3467102">
                  <a:extLst>
                    <a:ext uri="{9D8B030D-6E8A-4147-A177-3AD203B41FA5}">
                      <a16:colId xmlns:a16="http://schemas.microsoft.com/office/drawing/2014/main" val="2603997290"/>
                    </a:ext>
                  </a:extLst>
                </a:gridCol>
              </a:tblGrid>
              <a:tr h="391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b="1"/>
                        <a:t>Challenge</a:t>
                      </a:r>
                    </a:p>
                  </a:txBody>
                  <a:tcPr anchor="ctr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Mitigation Strategy</a:t>
                      </a:r>
                    </a:p>
                  </a:txBody>
                  <a:tcPr anchor="ctr"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371477"/>
                  </a:ext>
                </a:extLst>
              </a:tr>
              <a:tr h="39179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Adoption resistance from faculty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Orientation, training, and ease-of-use design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15410118"/>
                  </a:ext>
                </a:extLst>
              </a:tr>
              <a:tr h="39179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Data overload and misuse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Role-based access, moderation workflows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1249229"/>
                  </a:ext>
                </a:extLst>
              </a:tr>
              <a:tr h="39179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Verification delays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Batch approval, delegated validators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2161952"/>
                  </a:ext>
                </a:extLst>
              </a:tr>
              <a:tr h="39179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Privacy concerns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Secure logins, encrypted data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262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535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A3D96-31DC-C1DA-5276-474B8B411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55B2820-2E25-410C-9B98-4C6403BF9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38554931-6E7F-49B7-59F1-893A2E94F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20F9A-B302-DD9F-9F64-FB25563BC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AF373819-FC96-4B25-7139-425FF01BEF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Team Dexter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022B0A4F-B889-82A9-05C6-92797FB03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14E3A0-5DC4-3BBA-FDDA-4D299305354C}"/>
              </a:ext>
            </a:extLst>
          </p:cNvPr>
          <p:cNvSpPr txBox="1"/>
          <p:nvPr/>
        </p:nvSpPr>
        <p:spPr>
          <a:xfrm>
            <a:off x="471948" y="1115039"/>
            <a:ext cx="10624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 on the Target Audience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AEFE1-9DA5-6191-5D58-8F83EC2E0972}"/>
              </a:ext>
            </a:extLst>
          </p:cNvPr>
          <p:cNvSpPr txBox="1"/>
          <p:nvPr/>
        </p:nvSpPr>
        <p:spPr>
          <a:xfrm>
            <a:off x="471948" y="2005781"/>
            <a:ext cx="3185270" cy="333070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🎓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Benefits to Students: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Centralized, verified digital record from Day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Simplifies placements, fellowships, and admissions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Encourages participation and self-improvement through gamification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Saves time collecting proofs and certificates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B6C629-2A0E-443C-A3F6-C97BAA5782E6}"/>
              </a:ext>
            </a:extLst>
          </p:cNvPr>
          <p:cNvSpPr txBox="1"/>
          <p:nvPr/>
        </p:nvSpPr>
        <p:spPr>
          <a:xfrm>
            <a:off x="4031354" y="2005589"/>
            <a:ext cx="3627273" cy="332398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🏫 Benefits to Institutions: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Faster, accurate reporting for accreditation (NAAC, NIRF)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student activity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under-engaged students or departments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Promotes a culture of achievement and participation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7D5C5-16AA-60A0-7998-B48BFCEC3FE0}"/>
              </a:ext>
            </a:extLst>
          </p:cNvPr>
          <p:cNvSpPr txBox="1"/>
          <p:nvPr/>
        </p:nvSpPr>
        <p:spPr>
          <a:xfrm>
            <a:off x="7972621" y="2005590"/>
            <a:ext cx="3747431" cy="3323987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🌍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Socio-Economic &amp; Environmental 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Social: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Encourages holistic student development beyond academics.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Economic: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Reduces costs related to paperwork, audits, and manual data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Paperless, reducing the carbon footprint of HEIs.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367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Team Dexter</a:t>
            </a:r>
            <a:endParaRPr lang="en-IN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9F62C5-3312-D667-A4A8-6FB45EA2F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866986"/>
              </p:ext>
            </p:extLst>
          </p:nvPr>
        </p:nvGraphicFramePr>
        <p:xfrm>
          <a:off x="560716" y="1337094"/>
          <a:ext cx="11016761" cy="461243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811005">
                  <a:extLst>
                    <a:ext uri="{9D8B030D-6E8A-4147-A177-3AD203B41FA5}">
                      <a16:colId xmlns:a16="http://schemas.microsoft.com/office/drawing/2014/main" val="596828205"/>
                    </a:ext>
                  </a:extLst>
                </a:gridCol>
                <a:gridCol w="6205756">
                  <a:extLst>
                    <a:ext uri="{9D8B030D-6E8A-4147-A177-3AD203B41FA5}">
                      <a16:colId xmlns:a16="http://schemas.microsoft.com/office/drawing/2014/main" val="2886593212"/>
                    </a:ext>
                  </a:extLst>
                </a:gridCol>
              </a:tblGrid>
              <a:tr h="446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References (Title – Source)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7600151"/>
                  </a:ext>
                </a:extLst>
              </a:tr>
              <a:tr h="1126291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IN"/>
                        <a:t>Digital Portfolios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“The Contribution of Digital Portfolios…” (MDPI) “Digital Portfolio as an assessment strategy…” (Distance Educ.) “Role of E‑portfolios…” (J Digital Learning in Teacher Educ.)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776716"/>
                  </a:ext>
                </a:extLst>
              </a:tr>
              <a:tr h="1465970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IN"/>
                        <a:t>Learning Analytics &amp; EDM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“Educational data mining and learning analytics: An updated survey” (</a:t>
                      </a:r>
                      <a:r>
                        <a:rPr lang="en-IN" err="1"/>
                        <a:t>arXiv</a:t>
                      </a:r>
                      <a:r>
                        <a:rPr lang="en-IN"/>
                        <a:t>) “Learning Analytics on Student Engagement…” (MDPI) “Uncovering Student Engagement Patterns in Moodle…” (</a:t>
                      </a:r>
                      <a:r>
                        <a:rPr lang="en-IN" err="1"/>
                        <a:t>arXiv</a:t>
                      </a:r>
                      <a:r>
                        <a:rPr lang="en-IN"/>
                        <a:t>) “Student‑centric Model of LMS Activity…” (</a:t>
                      </a:r>
                      <a:r>
                        <a:rPr lang="en-IN" err="1"/>
                        <a:t>arXiv</a:t>
                      </a:r>
                      <a:r>
                        <a:rPr lang="en-IN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556452"/>
                  </a:ext>
                </a:extLst>
              </a:tr>
              <a:tr h="446940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IN"/>
                        <a:t>Dashboards &amp;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“Designing a Dashboard for Student Teamwork Analysis” (</a:t>
                      </a:r>
                      <a:r>
                        <a:rPr lang="en-US" err="1"/>
                        <a:t>arXiv</a:t>
                      </a:r>
                      <a:r>
                        <a:rPr lang="en-US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073168"/>
                  </a:ext>
                </a:extLst>
              </a:tr>
              <a:tr h="1126291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IN"/>
                        <a:t>Frameworks &amp;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INCEPR – Inter/National Coalition for Electronic Portfolio Research Wikipedia: Analytics in Higher Education Wikipedia: Learning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586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SMART INDIA HACKATHON 2025</vt:lpstr>
      <vt:lpstr> IDEA TITLE</vt:lpstr>
      <vt:lpstr> IDEA TITLE</vt:lpstr>
      <vt:lpstr>TECHNICAL APPROACH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revision>2</cp:revision>
  <dcterms:created xsi:type="dcterms:W3CDTF">2013-12-12T18:46:50Z</dcterms:created>
  <dcterms:modified xsi:type="dcterms:W3CDTF">2025-09-03T20:00:38Z</dcterms:modified>
  <cp:category/>
</cp:coreProperties>
</file>